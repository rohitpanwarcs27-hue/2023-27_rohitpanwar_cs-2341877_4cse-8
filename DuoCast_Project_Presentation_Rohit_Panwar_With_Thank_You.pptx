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961120" y="-2011680"/>
            <a:ext cx="6400800" cy="6400800"/>
          </a:xfrm>
          <a:prstGeom prst="ellipse">
            <a:avLst/>
          </a:prstGeom>
          <a:solidFill>
            <a:srgbClr val="263280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2B389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>
                <a:solidFill>
                  <a:srgbClr val="E0A64B"/>
                </a:solidFill>
                <a:latin typeface="Calibri"/>
              </a:rPr>
              <a:t>PROJECT PRESENTATION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4400" b="1">
                <a:solidFill>
                  <a:srgbClr val="FFFFFF"/>
                </a:solidFill>
                <a:latin typeface="Cambria"/>
              </a:rPr>
              <a:t>DuoCast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700" b="0">
                <a:solidFill>
                  <a:srgbClr val="CADCFC"/>
                </a:solidFill>
                <a:latin typeface="Calibri"/>
              </a:rPr>
              <a:t>Two-Person Video Calling with Local Recording &amp; S3 Upload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1280160" cy="54864"/>
          </a:xfrm>
          <a:prstGeom prst="rect">
            <a:avLst/>
          </a:prstGeom>
          <a:solidFill>
            <a:srgbClr val="E0A64B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 b="0">
                <a:solidFill>
                  <a:srgbClr val="9AA4D6"/>
                </a:solidFill>
                <a:latin typeface="Calibri"/>
              </a:rPr>
              <a:t>Frontend Web Development Internship  ·  Rohit Panwar  ·  CS-2341877</a:t>
            </a:r>
            <a:endParaRPr lang="en-US" sz="1300" dirty="0"/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9AA4D6"/>
                </a:solidFill>
                <a:latin typeface="Calibri"/>
              </a:rPr>
              <a:t>IILM University  ·  School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1900" b="0" i="1">
                <a:solidFill>
                  <a:srgbClr val="1E2761"/>
                </a:solidFill>
                <a:latin typeface="Cambria"/>
              </a:rPr>
              <a:t>Where Real-Time
Communication Meets
Reliable Recording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640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3000" b="1">
                <a:solidFill>
                  <a:srgbClr val="1E2761"/>
                </a:solidFill>
                <a:latin typeface="Cambria"/>
              </a:rPr>
              <a:t>The Project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55448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350" b="0">
                <a:solidFill>
                  <a:srgbClr val="20264D"/>
                </a:solidFill>
                <a:latin typeface="Calibri"/>
              </a:rPr>
              <a:t>DuoCast combines real-time peer-to-peer video communication with local browser recording and background cloud storage. The approach is designed to preserve the original capture quality even when network conditions affect the live call.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6634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3337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1E2761"/>
                </a:solidFill>
                <a:latin typeface="Calibri"/>
              </a:rPr>
              <a:t>Local Recording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657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0">
                <a:solidFill>
                  <a:srgbClr val="5B6491"/>
                </a:solidFill>
                <a:latin typeface="Calibri"/>
              </a:rPr>
              <a:t>MediaRecorder captures each participant's own video locally.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4297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6634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4251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1E2761"/>
                </a:solidFill>
                <a:latin typeface="Calibri"/>
              </a:rPr>
              <a:t>Real-Time Calling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4572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0">
                <a:solidFill>
                  <a:srgbClr val="5B6491"/>
                </a:solidFill>
                <a:latin typeface="Calibri"/>
              </a:rPr>
              <a:t>WebRTC provides peer-to-peer audio and video communication.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5212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6634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5166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1E2761"/>
                </a:solidFill>
                <a:latin typeface="Calibri"/>
              </a:rPr>
              <a:t>Cloud Upload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5486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0">
                <a:solidFill>
                  <a:srgbClr val="5B6491"/>
                </a:solidFill>
                <a:latin typeface="Calibri"/>
              </a:rPr>
              <a:t>Recording chunks are uploaded to AWS S3 in the background.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750" b="0">
                <a:solidFill>
                  <a:srgbClr val="5B6491"/>
                </a:solidFill>
                <a:latin typeface="Calibri"/>
              </a:rPr>
              <a:t>DuoCast  |  Project Presentation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800" b="1">
                <a:solidFill>
                  <a:srgbClr val="1E2761"/>
                </a:solidFill>
                <a:latin typeface="Cambria"/>
              </a:rPr>
              <a:t>Project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0">
                <a:solidFill>
                  <a:srgbClr val="5B6491"/>
                </a:solidFill>
                <a:latin typeface="Calibri"/>
              </a:rPr>
              <a:t>Core technologies and project focus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 b="1">
                <a:solidFill>
                  <a:srgbClr val="5B6491"/>
                </a:solidFill>
                <a:latin typeface="Calibri"/>
              </a:rPr>
              <a:t>Position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sz="1800" b="1">
                <a:solidFill>
                  <a:srgbClr val="1E2761"/>
                </a:solidFill>
                <a:latin typeface="Cambria"/>
              </a:rPr>
              <a:t>DuoCast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74904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7490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 b="1">
                <a:solidFill>
                  <a:srgbClr val="5B6491"/>
                </a:solidFill>
                <a:latin typeface="Calibri"/>
              </a:rPr>
              <a:t>Location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sz="1800" b="1">
                <a:solidFill>
                  <a:srgbClr val="1E2761"/>
                </a:solidFill>
                <a:latin typeface="Cambria"/>
              </a:rPr>
              <a:t>Web Browser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67512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6751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 b="1">
                <a:solidFill>
                  <a:srgbClr val="5B6491"/>
                </a:solidFill>
                <a:latin typeface="Calibri"/>
              </a:rPr>
              <a:t>Duration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sz="1800" b="1">
                <a:solidFill>
                  <a:srgbClr val="1E2761"/>
                </a:solidFill>
                <a:latin typeface="Cambria"/>
              </a:rPr>
              <a:t>Internship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326880" y="192024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601200" y="2240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6012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0A6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0" y="306324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 b="1">
                <a:solidFill>
                  <a:srgbClr val="5B6491"/>
                </a:solidFill>
                <a:latin typeface="Calibri"/>
              </a:rPr>
              <a:t>Resources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34290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sz="1800" b="1">
                <a:solidFill>
                  <a:srgbClr val="1E2761"/>
                </a:solidFill>
                <a:latin typeface="Cambria"/>
              </a:rPr>
              <a:t>Next.js + React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750" b="0">
                <a:solidFill>
                  <a:srgbClr val="5B6491"/>
                </a:solidFill>
                <a:latin typeface="Calibri"/>
              </a:rPr>
              <a:t>DuoCast  |  Project Presentation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Box 25"/>
          <p:cNvSpPr txBox="1"/>
          <p:nvPr/>
        </p:nvSpPr>
        <p:spPr>
          <a:xfrm>
            <a:off x="822960" y="408736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B6491"/>
                </a:solidFill>
                <a:latin typeface="Calibri"/>
              </a:rPr>
              <a:t>Two-person video calling
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408736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B6491"/>
                </a:solidFill>
                <a:latin typeface="Calibri"/>
              </a:rPr>
              <a:t>Client-side real-time
communication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08736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B6491"/>
                </a:solidFill>
                <a:latin typeface="Calibri"/>
              </a:rPr>
              <a:t>Frontend Web Development
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4087368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 i="0">
                <a:solidFill>
                  <a:srgbClr val="5B6491"/>
                </a:solidFill>
                <a:latin typeface="Calibri"/>
              </a:rPr>
              <a:t>Modern frontend
application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800" b="1">
                <a:solidFill>
                  <a:srgbClr val="FFFFFF"/>
                </a:solidFill>
                <a:latin typeface="Cambria"/>
              </a:rPr>
              <a:t>How DuoCast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0">
                <a:solidFill>
                  <a:srgbClr val="CADCFC"/>
                </a:solidFill>
                <a:latin typeface="Calibri"/>
              </a:rPr>
              <a:t>From joining a room to storing the final recording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3749040"/>
            <a:ext cx="10149840" cy="0"/>
          </a:xfrm>
          <a:prstGeom prst="line">
            <a:avLst/>
          </a:prstGeom>
          <a:noFill/>
          <a:ln w="25400">
            <a:solidFill>
              <a:srgbClr val="3A468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045970" y="3520440"/>
            <a:ext cx="457200" cy="457200"/>
          </a:xfrm>
          <a:prstGeom prst="ellipse">
            <a:avLst/>
          </a:prstGeom>
          <a:solidFill>
            <a:srgbClr val="E0A64B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204597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7437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1  ·  Join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74370" y="2560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sz="1000" b="0">
                <a:solidFill>
                  <a:srgbClr val="CADCFC"/>
                </a:solidFill>
                <a:latin typeface="Calibri"/>
              </a:rPr>
              <a:t>Enter a DuoCast room and connect two participants.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74570" y="3383280"/>
            <a:ext cx="0" cy="137160"/>
          </a:xfrm>
          <a:prstGeom prst="line">
            <a:avLst/>
          </a:prstGeom>
          <a:noFill/>
          <a:ln w="12700">
            <a:solidFill>
              <a:srgbClr val="3A468F"/>
            </a:solidFill>
            <a:prstDash val="dash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83430" y="3520440"/>
            <a:ext cx="457200" cy="457200"/>
          </a:xfrm>
          <a:prstGeom prst="ellipse">
            <a:avLst/>
          </a:prstGeom>
          <a:solidFill>
            <a:srgbClr val="E0A64B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58343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1183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2  ·  Connect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11830" y="4572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sz="1000" b="0">
                <a:solidFill>
                  <a:srgbClr val="CADCFC"/>
                </a:solidFill>
                <a:latin typeface="Calibri"/>
              </a:rPr>
              <a:t>WebRTC establishes the real-time peer-to-peer call.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12030" y="3749040"/>
            <a:ext cx="0" cy="457200"/>
          </a:xfrm>
          <a:prstGeom prst="line">
            <a:avLst/>
          </a:prstGeom>
          <a:noFill/>
          <a:ln w="12700">
            <a:solidFill>
              <a:srgbClr val="3A468F"/>
            </a:solidFill>
            <a:prstDash val="dash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120890" y="3520440"/>
            <a:ext cx="457200" cy="457200"/>
          </a:xfrm>
          <a:prstGeom prst="ellipse">
            <a:avLst/>
          </a:prstGeom>
          <a:solidFill>
            <a:srgbClr val="E0A64B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12089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749290" y="2194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3  ·  Record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749290" y="2560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sz="1000" b="0">
                <a:solidFill>
                  <a:srgbClr val="CADCFC"/>
                </a:solidFill>
                <a:latin typeface="Calibri"/>
              </a:rPr>
              <a:t>Each participant records their local media stream.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49490" y="3383280"/>
            <a:ext cx="0" cy="137160"/>
          </a:xfrm>
          <a:prstGeom prst="line">
            <a:avLst/>
          </a:prstGeom>
          <a:noFill/>
          <a:ln w="12700">
            <a:solidFill>
              <a:srgbClr val="3A468F"/>
            </a:solidFill>
            <a:prstDash val="dash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658350" y="3520440"/>
            <a:ext cx="457200" cy="457200"/>
          </a:xfrm>
          <a:prstGeom prst="ellipse">
            <a:avLst/>
          </a:prstGeom>
          <a:solidFill>
            <a:srgbClr val="E0A64B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65835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86750" y="4206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00" b="1">
                <a:solidFill>
                  <a:srgbClr val="FFFFFF"/>
                </a:solidFill>
                <a:latin typeface="Calibri"/>
              </a:rPr>
              <a:t>4  ·  Upload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286750" y="4572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sz="1000" b="0">
                <a:solidFill>
                  <a:srgbClr val="CADCFC"/>
                </a:solidFill>
                <a:latin typeface="Calibri"/>
              </a:rPr>
              <a:t>Recording chunks are uploaded to AWS S3 in the background.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86950" y="3749040"/>
            <a:ext cx="0" cy="457200"/>
          </a:xfrm>
          <a:prstGeom prst="line">
            <a:avLst/>
          </a:prstGeom>
          <a:noFill/>
          <a:ln w="12700">
            <a:solidFill>
              <a:srgbClr val="3A468F"/>
            </a:solidFill>
            <a:prstDash val="dash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750" b="0">
                <a:solidFill>
                  <a:srgbClr val="5B6491"/>
                </a:solidFill>
                <a:latin typeface="Calibri"/>
              </a:rPr>
              <a:t>DuoCast  |  Project Presentation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800" b="1">
                <a:solidFill>
                  <a:srgbClr val="1E2761"/>
                </a:solidFill>
                <a:latin typeface="Cambria"/>
              </a:rPr>
              <a:t>The Challenge We Address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0">
                <a:solidFill>
                  <a:srgbClr val="5B6491"/>
                </a:solidFill>
                <a:latin typeface="Calibri"/>
              </a:rPr>
              <a:t>Why local recording matters for real-time video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7EAF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35000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1031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1E2761"/>
                </a:solidFill>
                <a:latin typeface="Calibri"/>
              </a:rPr>
              <a:t>Network Quality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10312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sz="1050" b="0">
                <a:solidFill>
                  <a:srgbClr val="20264D"/>
                </a:solidFill>
                <a:latin typeface="Calibri"/>
              </a:rPr>
              <a:t>Poor bandwidth or packet loss can cause choppy or degraded live video.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7EAF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37673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68680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5204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1E2761"/>
                </a:solidFill>
                <a:latin typeface="Calibri"/>
              </a:rPr>
              <a:t>Stream Recording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52044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sz="1050" b="0">
                <a:solidFill>
                  <a:srgbClr val="20264D"/>
                </a:solidFill>
                <a:latin typeface="Calibri"/>
              </a:rPr>
              <a:t>Recording the remote WebRTC stream can preserve freezes, lag and resolution drops.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C"/>
          </a:solidFill>
          <a:ln w="12700">
            <a:solidFill>
              <a:srgbClr val="E7EAF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51846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68680" y="5184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9377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350" b="1">
                <a:solidFill>
                  <a:srgbClr val="1E2761"/>
                </a:solidFill>
                <a:latin typeface="Calibri"/>
              </a:rPr>
              <a:t>Quality Loss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9377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sz="1050" b="0">
                <a:solidFill>
                  <a:srgbClr val="20264D"/>
                </a:solidFill>
                <a:latin typeface="Calibri"/>
              </a:rPr>
              <a:t>A weak connection on one side can negatively affect the resulting recording.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750" b="0">
                <a:solidFill>
                  <a:srgbClr val="5B6491"/>
                </a:solidFill>
                <a:latin typeface="Calibri"/>
              </a:rPr>
              <a:t>DuoCast  |  Project Presentation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800" b="1" i="0">
                <a:solidFill>
                  <a:srgbClr val="1E2761"/>
                </a:solidFill>
                <a:latin typeface="Cambria"/>
              </a:rPr>
              <a:t>System Architecture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750" b="0" i="0">
                <a:solidFill>
                  <a:srgbClr val="5B6491"/>
                </a:solidFill>
                <a:latin typeface="Calibri"/>
              </a:rPr>
              <a:t>DuoCast  |  Project Presentation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sz="750" b="0" i="0">
                <a:solidFill>
                  <a:srgbClr val="5B6491"/>
                </a:solidFill>
                <a:latin typeface="Calibri"/>
              </a:rPr>
              <a:t>6</a:t>
            </a:r>
            <a:endParaRPr lang="en-US" sz="900" dirty="0"/>
          </a:p>
        </p:txBody>
      </p:sp>
      <p:sp>
        <p:nvSpPr>
          <p:cNvPr id="19" name="Rounded Rectangle 18"/>
          <p:cNvSpPr/>
          <p:nvPr/>
        </p:nvSpPr>
        <p:spPr>
          <a:xfrm>
            <a:off x="749808" y="1591056"/>
            <a:ext cx="937260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1847088"/>
            <a:ext cx="8732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1E2761"/>
                </a:solidFill>
                <a:latin typeface="Cambria"/>
              </a:rPr>
              <a:t>Client-side architecture with WebRTC signaling, local recording and cloud storage.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2514600"/>
            <a:ext cx="2148840" cy="777240"/>
          </a:xfrm>
          <a:prstGeom prst="roundRect">
            <a:avLst/>
          </a:prstGeom>
          <a:solidFill>
            <a:srgbClr val="F4F6FC"/>
          </a:solidFill>
          <a:ln>
            <a:solidFill>
              <a:srgbClr val="F4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1E2761"/>
                </a:solidFill>
                <a:latin typeface="Calibri"/>
              </a:rPr>
              <a:t>Participant A
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258775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E2761"/>
                </a:solidFill>
                <a:latin typeface="Calibri"/>
              </a:rPr>
              <a:t>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96512" y="2514600"/>
            <a:ext cx="2514600" cy="777240"/>
          </a:xfrm>
          <a:prstGeom prst="roundRect">
            <a:avLst/>
          </a:prstGeom>
          <a:solidFill>
            <a:srgbClr val="F4F6FC"/>
          </a:solidFill>
          <a:ln>
            <a:solidFill>
              <a:srgbClr val="F4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1E2761"/>
                </a:solidFill>
                <a:latin typeface="Calibri"/>
              </a:rPr>
              <a:t>DuoCast Frontend
Next.js + React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2587752"/>
            <a:ext cx="594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E2761"/>
                </a:solidFill>
                <a:latin typeface="Calibri"/>
              </a:rPr>
              <a:t>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88352" y="2514600"/>
            <a:ext cx="2148840" cy="777240"/>
          </a:xfrm>
          <a:prstGeom prst="roundRect">
            <a:avLst/>
          </a:prstGeom>
          <a:solidFill>
            <a:srgbClr val="F4F6FC"/>
          </a:solidFill>
          <a:ln>
            <a:solidFill>
              <a:srgbClr val="F4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1E2761"/>
                </a:solidFill>
                <a:latin typeface="Calibri"/>
              </a:rPr>
              <a:t>Participant B
Browser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3611880"/>
            <a:ext cx="2240280" cy="713232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1E2761"/>
                </a:solidFill>
                <a:latin typeface="Calibri"/>
              </a:rPr>
              <a:t>WebRTC
Media Stream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3648456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81728" y="3611880"/>
            <a:ext cx="2240280" cy="713232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1E2761"/>
                </a:solidFill>
                <a:latin typeface="Calibri"/>
              </a:rPr>
              <a:t>Socket.IO
Signaling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6" y="3648456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1E2761"/>
                </a:solidFill>
                <a:latin typeface="Calibri"/>
              </a:rPr>
              <a:t>+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3611880"/>
            <a:ext cx="1737360" cy="713232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1E2761"/>
                </a:solidFill>
                <a:latin typeface="Calibri"/>
              </a:rPr>
              <a:t>Node.js
Server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57400" y="4617720"/>
            <a:ext cx="2240280" cy="658368"/>
          </a:xfrm>
          <a:prstGeom prst="roundRect">
            <a:avLst/>
          </a:prstGeom>
          <a:solidFill>
            <a:srgbClr val="F4F6FC"/>
          </a:solidFill>
          <a:ln>
            <a:solidFill>
              <a:srgbClr val="F4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1E2761"/>
                </a:solidFill>
                <a:latin typeface="Calibri"/>
              </a:rPr>
              <a:t>MediaRecorder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645152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92040" y="4617720"/>
            <a:ext cx="2240280" cy="658368"/>
          </a:xfrm>
          <a:prstGeom prst="roundRect">
            <a:avLst/>
          </a:prstGeom>
          <a:solidFill>
            <a:srgbClr val="F4F6FC"/>
          </a:solidFill>
          <a:ln>
            <a:solidFill>
              <a:srgbClr val="F4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1E2761"/>
                </a:solidFill>
                <a:latin typeface="Calibri"/>
              </a:rPr>
              <a:t>Background
Chunk Upload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645152"/>
            <a:ext cx="6400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26679" y="4617720"/>
            <a:ext cx="1600200" cy="658368"/>
          </a:xfrm>
          <a:prstGeom prst="roundRect">
            <a:avLst/>
          </a:prstGeom>
          <a:solidFill>
            <a:srgbClr val="E0A64B"/>
          </a:solidFill>
          <a:ln>
            <a:solidFill>
              <a:srgbClr val="E0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1E2761"/>
                </a:solidFill>
                <a:latin typeface="Calibri"/>
              </a:rPr>
              <a:t>AWS S3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285232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 i="0">
                <a:solidFill>
                  <a:srgbClr val="5B6491"/>
                </a:solidFill>
                <a:latin typeface="Calibri"/>
              </a:rPr>
              <a:t>Optional / experimental: FFmpeg-based side-by-side merge of participant recordings.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800" b="1">
                <a:solidFill>
                  <a:srgbClr val="FFFFFF"/>
                </a:solidFill>
                <a:latin typeface="Cambria"/>
              </a:rPr>
              <a:t>Development Journey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0">
                <a:solidFill>
                  <a:srgbClr val="CADCFC"/>
                </a:solidFill>
                <a:latin typeface="Calibri"/>
              </a:rPr>
              <a:t>From interface design to recording and cloud storage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263280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651760"/>
            <a:ext cx="640080" cy="640080"/>
          </a:xfrm>
          <a:prstGeom prst="ellipse">
            <a:avLst/>
          </a:prstGeom>
          <a:solidFill>
            <a:srgbClr val="E0A64B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6012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50" b="1">
                <a:solidFill>
                  <a:srgbClr val="FFFFFF"/>
                </a:solidFill>
                <a:latin typeface="Calibri"/>
              </a:rPr>
              <a:t>Interface &amp; Call Setup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050" b="0">
                <a:solidFill>
                  <a:srgbClr val="CADCFC"/>
                </a:solidFill>
                <a:latin typeface="Calibri"/>
              </a:rPr>
              <a:t>Built the web interface and established two-person video communication using WebRTC.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263280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2651760"/>
            <a:ext cx="640080" cy="640080"/>
          </a:xfrm>
          <a:prstGeom prst="ellipse">
            <a:avLst/>
          </a:prstGeom>
          <a:solidFill>
            <a:srgbClr val="E0A64B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7548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50" b="1">
                <a:solidFill>
                  <a:srgbClr val="FFFFFF"/>
                </a:solidFill>
                <a:latin typeface="Calibri"/>
              </a:rPr>
              <a:t>Recording &amp; Storage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050" b="0">
                <a:solidFill>
                  <a:srgbClr val="CADCFC"/>
                </a:solidFill>
                <a:latin typeface="Calibri"/>
              </a:rPr>
              <a:t>Implemented local browser recording and background chunk uploads to AWS S3.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228600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263280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549640" y="2651760"/>
            <a:ext cx="640080" cy="640080"/>
          </a:xfrm>
          <a:prstGeom prst="ellipse">
            <a:avLst/>
          </a:prstGeom>
          <a:solidFill>
            <a:srgbClr val="E0A64B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549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450" b="1">
                <a:solidFill>
                  <a:srgbClr val="FFFFFF"/>
                </a:solidFill>
                <a:latin typeface="Calibri"/>
              </a:rPr>
              <a:t>Synchronization &amp; Processing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40690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050" b="0">
                <a:solidFill>
                  <a:srgbClr val="CADCFC"/>
                </a:solidFill>
                <a:latin typeface="Calibri"/>
              </a:rPr>
              <a:t>Added signaling controls for synchronized recording and a workflow for combining recordings.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750" b="0">
                <a:solidFill>
                  <a:srgbClr val="5B6491"/>
                </a:solidFill>
                <a:latin typeface="Calibri"/>
              </a:rPr>
              <a:t>DuoCast  |  Project Presentation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F4F6FC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4630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sz="3600" b="1">
                <a:solidFill>
                  <a:srgbClr val="1E2761"/>
                </a:solidFill>
                <a:latin typeface="Cambria"/>
              </a:rPr>
              <a:t>What Comes Next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02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 on your selection. Should you have any questions before or during the program, feel free to reach out at your earliest convenience.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1280160" cy="0"/>
          </a:xfrm>
          <a:prstGeom prst="line">
            <a:avLst/>
          </a:prstGeom>
          <a:noFill/>
          <a:ln w="38100">
            <a:solidFill>
              <a:srgbClr val="E0A64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50" b="1">
                <a:solidFill>
                  <a:srgbClr val="1E2761"/>
                </a:solidFill>
                <a:latin typeface="Cambria"/>
              </a:rPr>
              <a:t>Current State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956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 b="0">
                <a:solidFill>
                  <a:srgbClr val="5B6491"/>
                </a:solidFill>
                <a:latin typeface="Calibri"/>
              </a:rPr>
              <a:t>Working prototype — local recording and background chunk uploads are functional.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 b="0">
                <a:solidFill>
                  <a:srgbClr val="5B6491"/>
                </a:solidFill>
                <a:latin typeface="Calibri"/>
              </a:rPr>
              <a:t>Next: improve synchronization, processing reliability and production readiness.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750" b="0">
                <a:solidFill>
                  <a:srgbClr val="5B6491"/>
                </a:solidFill>
                <a:latin typeface="Calibri"/>
              </a:rPr>
              <a:t>Rohit Panwar  |  CS-2341877  |  4CSE8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2" name="Rounded Rectangle 11"/>
          <p:cNvSpPr/>
          <p:nvPr/>
        </p:nvSpPr>
        <p:spPr>
          <a:xfrm>
            <a:off x="749808" y="5074920"/>
            <a:ext cx="2057400" cy="64008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1E2761"/>
                </a:solidFill>
                <a:latin typeface="Calibri"/>
              </a:rPr>
              <a:t>Working
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5120640"/>
            <a:ext cx="3474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5074920"/>
            <a:ext cx="2057400" cy="64008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1E2761"/>
                </a:solidFill>
                <a:latin typeface="Calibri"/>
              </a:rPr>
              <a:t>Improve
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5120640"/>
            <a:ext cx="3474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42432" y="5074920"/>
            <a:ext cx="2057400" cy="640080"/>
          </a:xfrm>
          <a:prstGeom prst="roundRect">
            <a:avLst/>
          </a:prstGeom>
          <a:solidFill>
            <a:srgbClr val="CADCFC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1E2761"/>
                </a:solidFill>
                <a:latin typeface="Calibri"/>
              </a:rPr>
              <a:t>Optimize
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4" y="5120640"/>
            <a:ext cx="34747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38744" y="5074920"/>
            <a:ext cx="2057400" cy="640080"/>
          </a:xfrm>
          <a:prstGeom prst="roundRect">
            <a:avLst/>
          </a:prstGeom>
          <a:solidFill>
            <a:srgbClr val="E0A64B"/>
          </a:solidFill>
          <a:ln>
            <a:solidFill>
              <a:srgbClr val="E0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1E2761"/>
                </a:solidFill>
                <a:latin typeface="Calibri"/>
              </a:rPr>
              <a:t>Production
Ready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0A64B"/>
                </a:solidFill>
                <a:latin typeface="Calibri"/>
              </a:rPr>
              <a:t>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E2761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1488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1E2761"/>
                </a:solidFill>
                <a:latin typeface="Cambria"/>
              </a:rPr>
              <a:t>Thank you for your time and consideration.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4320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B6491"/>
                </a:solidFill>
                <a:latin typeface="Calibri"/>
              </a:rPr>
              <a:t>DuoCast — Two-Person Video Calling with Local Recording &amp; S3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886200"/>
            <a:ext cx="621792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133087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mbria"/>
              </a:rPr>
              <a:t>Rohit Panwar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5262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6491"/>
                </a:solidFill>
                <a:latin typeface="Calibri"/>
              </a:rPr>
              <a:t>CS-2341877  ·  4CSE8  ·  IILM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3886200"/>
            <a:ext cx="2788920" cy="1234440"/>
          </a:xfrm>
          <a:prstGeom prst="roundRect">
            <a:avLst/>
          </a:prstGeom>
          <a:solidFill>
            <a:srgbClr val="E0A64B"/>
          </a:solidFill>
          <a:ln>
            <a:solidFill>
              <a:srgbClr val="E0A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4187952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Cambria"/>
              </a:rPr>
              <a:t>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B6491"/>
                </a:solidFill>
                <a:latin typeface="Calibri"/>
              </a:rPr>
              <a:t>DuoCast  | 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465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B649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2026-08-30T17:16:55Z</dcterms:created>
  <dcterms:modified xsi:type="dcterms:W3CDTF">2026-08-30T17:16:55Z</dcterms:modified>
</cp:coreProperties>
</file>